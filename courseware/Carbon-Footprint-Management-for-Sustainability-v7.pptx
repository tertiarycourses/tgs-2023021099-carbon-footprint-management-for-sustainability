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Materials</c:v>
                </c:pt>
                <c:pt idx="1">
                  <c:v>Electricity</c:v>
                </c:pt>
                <c:pt idx="2">
                  <c:v>Freight</c:v>
                </c:pt>
                <c:pt idx="3">
                  <c:v>Fuel</c:v>
                </c:pt>
                <c:pt idx="4">
                  <c:v>Waste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44</c:v>
                </c:pt>
                <c:pt idx="1">
                  <c:v>26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LED</c:v>
                </c:pt>
                <c:pt idx="1">
                  <c:v>Controls</c:v>
                </c:pt>
                <c:pt idx="2">
                  <c:v>Solar</c:v>
                </c:pt>
                <c:pt idx="3">
                  <c:v>EV fleet</c:v>
                </c:pt>
                <c:pt idx="4">
                  <c:v>Green material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-55</c:v>
                </c:pt>
                <c:pt idx="1">
                  <c:v>-20</c:v>
                </c:pt>
                <c:pt idx="2">
                  <c:v>18</c:v>
                </c:pt>
                <c:pt idx="3">
                  <c:v>65</c:v>
                </c:pt>
                <c:pt idx="4">
                  <c:v>110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100</c:v>
                </c:pt>
                <c:pt idx="1">
                  <c:v>98</c:v>
                </c:pt>
                <c:pt idx="2">
                  <c:v>91</c:v>
                </c:pt>
                <c:pt idx="3">
                  <c:v>83</c:v>
                </c:pt>
                <c:pt idx="4">
                  <c:v>74</c:v>
                </c:pt>
                <c:pt idx="5">
                  <c:v>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Controls</c:v>
                </c:pt>
                <c:pt idx="1">
                  <c:v>Solar</c:v>
                </c:pt>
                <c:pt idx="2">
                  <c:v>Fleet EV</c:v>
                </c:pt>
                <c:pt idx="3">
                  <c:v>Supplier data</c:v>
                </c:pt>
                <c:pt idx="4">
                  <c:v>Green steel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88</c:v>
                </c:pt>
                <c:pt idx="1">
                  <c:v>76</c:v>
                </c:pt>
                <c:pt idx="2">
                  <c:v>69</c:v>
                </c:pt>
                <c:pt idx="3">
                  <c:v>64</c:v>
                </c:pt>
                <c:pt idx="4">
                  <c:v>52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893808" y="566928"/>
            <a:ext cx="1143000" cy="11430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64008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CO₂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79222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MEASURE · REDUCE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Carbon Footprint Management for Sustainability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TGS-2023021099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v7  ·  12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Welcome, Outcomes and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TGS-2023021099 · 2 days · 16 training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digital attendance event shown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your phone camera and verify the submission succeeds.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Minimum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 for assessment and funding eligibility.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Ask immediately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if a scan fails; do not leave it unresolved.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79192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679192"/>
            <a:ext cx="91440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679192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575304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575304"/>
            <a:ext cx="91440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575304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471416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471416"/>
            <a:ext cx="91440" cy="7132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471416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5367528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5367528"/>
            <a:ext cx="91440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367528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Applied AI, sustainability data and business transformation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 facilitation, assessment briefing and learner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APPROACH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Evidence-led, practical and decision-focused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ORGANISATION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Exposure to ESG, operations, energy, finance or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footprint or sustainability decision you want to improve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a useful carbon-reduction plan would enable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Participate actively and ask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Respect different operational perspectives.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fictionalised or approved business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punctually from breaks.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phones silent outside learning tasks.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Challenge assumptions with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Your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Sign in at lms-tms.tertiaryinfotech.com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record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Carbon Footprint Management for Sustainability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Core files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Lesson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folder per activity with scenario, questions and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Calculator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alfredang.github.io/sgcarboncalculator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only approved open-book materials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Carbon Footprint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PRE-ENV-4001-1.1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carbon emission hotspots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Prioritise reduction initiatives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Develop reduction plans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K1–K9 assessed through nine SAQs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Journey —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Measure What Matters — Boundary, Scopes and Hotspots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Standards, boundaries and scopes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Inventory calculations and data quality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Hotspot analysis and economics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Move From Insight to Action — Priorities, Plans and Governance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Scenarios, technologies and portfolio choices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EMS, governance and Singapore context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Action planning and capstone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4–9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BY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Analyse carbon emission hotspots using recognised standards, boundaries and reliable activity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Prioritise carbon-footprint reduction initiatives using projections, feasibility, cost-benefit and decision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 an implementable carbon-footprint reduction plan with governance, targets, monitoring and continual improvement.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CONNECTED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· Analyse Carbon Emission Hotspots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Standards, boundaries, data, scopes and hotspot diagnosis · K1 · K3 · K7 · A1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· Prioritise Reduction Initiatives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Projection, technology, economics and transparent decisions · K4 · K5 · K8 · 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· Develop the Reduction Plan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EMS governance, action planning, Singapore requirements and review · K2 · K6 · K9 · A3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Carbon Management Decision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Boundary and purpose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Activity × factor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Hotspots and drivers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Carbon, cash and risk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Plan, control and improve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activity strengthens one part of the same auditable decision trail.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2 HOURS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9 short-answer questions · K1–K9 · 1 hour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Case Study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 applied questions · A1–A3 · 1 hour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approved course materials; work independently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Answer the exact question and show calculations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discussion, photography or recording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Competent or Not Yet Competent per instrument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Complete feedback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 SAQs · 1 hour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 questions · 1 hour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Follow assessor…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WSQ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Completion and Funding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Minimum 75% based on SSG digital 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both assessment instruments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TRAQOM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mandatory course feedback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Follow administrative and identity-verification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START WITH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Carbon accounting is not the finish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is the evidence system that helps people choose and deliver better reductions.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 · K1 · K3 · K7 ·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Analyse Carbon Emission Hotspots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Standards, boundaries, data, scopes and hotspot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Carbon Inventory Is a Decision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Translate physical activity into comparable tCO₂e for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which entities, operations, gases and period are included.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consistent activity data, emission factors and global-warming potentials.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sources, assumptions, controls and recalculation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GHG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Corporate Inventory in Five 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organisational boundary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operational boundary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activity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and consolidate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Report, verify and improve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Principles Protect Decision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Reflect the organisation and users’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Completeness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for all sources within the boundary; disclose exclusions.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Enable meaningful comparison over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Transparency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Disclose methods, assumptions and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bias and uncertainty as far as practical.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Organisational Boundary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Equity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Control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 according to economic interest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where ownership shares matter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consistently across investments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 for operations under financial or operational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Often aligns with management systems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the chosen control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ISO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Standards Fit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ISO 14001 structures the EMS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GHG Protocol structures corporate accounting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ISO 14064-1 supports organisation-level…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ISO 14064-3 supports verification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Assurance strengthens confidence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Accounting Standard vs Management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GHG Protocol / ISO 14064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ISO 14001 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What and how much is emitted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Boundaries, categories, calculations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Inventory quality and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How environmental performance is managed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Policy, objectives, controls and review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Continual improvement through PDCA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Seven Greenhouse Gases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CO₂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Fuel and process emissions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4438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4438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60470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047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990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Waste, agriculture and fugitive emissions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9188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N₂O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Combustion, fertiliser and processes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8834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8834" y="1783080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14866" y="254203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486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6386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HFCs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Refrigeration and cooling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PFCs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Electronics and industrial processes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04438" y="4087368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1990" y="4215384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SF₆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Electrical equipment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1636" y="4087368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9188" y="4215384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NF₃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Electronics and semiconductor manufacturing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CORE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Activity to tCO₂e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transparent inventory keeps every assumption visible.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Emissions (tCO₂e) = Activity data × Emission factor × GWP ÷ unit conversion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Example: kWh × kg CO₂e/kWh ÷ 1,000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factor for the correct geography and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factor source, unit and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Practical Data-Quality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Supplier-specific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primary data for the exact product or service.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Metered activity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Invoices, meters, fuel records or logistics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Engineering estimate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Measured drivers with documented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Spend proxy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Currency × environmentally extended input-output factor.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Unsupported guess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temporarily; flag for improvement.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Scopes Prevent Category Confusion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 emissions from sources owned or controlled.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Indirect emissions from purchased electricity, steam, heat or cooling.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Other value-chain emissions upstream and downstream.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Scopes describe responsibility for accounting—not moral blame.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SCOPE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Location-Based and Market-Based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Location-based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Market-based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Average grid emissions where consumption occurs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for physical system context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Singapore example: EMA grid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Contractual instruments and supplier attributes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Requires quality criteria and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both where applicable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SCOPE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the Value Chain, Not the Org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Upstream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Purchased goods, capital goods, fuels, transport, waste, travel, commuting and leased assets.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Downstream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Distribution, processing, use, end-of-life, leased assets, franchises and investments.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Screen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 all relevant categories before investing in precision.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Engage 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Improve supplier and customer data at material hotspots.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HOTSPOT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Hotspot Analysis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Estimate complete footprint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 absolute tCO₂e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intensity and trend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Investigate controllability and risk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PARETO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Footprint by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 two sources represent 70% of the screening footprint; validate them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MATERIALITY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Hotspot Is More Than the Largest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Magnitude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Absolute or intensity-based share of emissions.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Influence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Ability to change technology, demand or supplier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Carbon price, regulation, disruption or reputation.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 to customers, growth and operational priorities.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Inventory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Missing 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Completeness check against sites, ledgers and processes.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Double counting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Clear ownership, category definitions and consolidation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 errors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Automated validation and unit conversion controls.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Wrong factor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Versioned factor library with geography and year.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Silent estimates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 register with owner and replacement date.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CALCULATOR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 the SG Carbon Calculator Be Used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objective personal engagement or a corporate inventory?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Personal engagement: use calculator outputs to start conversations and identify behaviours.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Corporate inventory: use controlled organisational activity data, documented factors and boundary rules.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calculator is a screening and learning aid—not a substitute for a GHG Protocol corporate inventory.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Singapore Electricity Data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Published factor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 reported 0.402 kg CO₂/kWh for 2024.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 year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 the factor year to the reporting period.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 unit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 kg to tonnes only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Save the factor source and access date.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Recalculate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when base-year electricity emissions are restated.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K7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Carbon Value From Cash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Carbon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and lifetime tCO₂e avoided.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Capex, opex, savings and residual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Carbon tax, energy volatility and compliance exposure.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Resilience, customer value and learning.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K7 · PAYBACK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Simple Payback Is Fast—but Incomplete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Useful as a screening metric when cash flows are stable.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Simple payback (years) = Initial investment ÷ Annual net cash saving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Ignores time value of money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Ignores cash flows after payback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Never rank long-lived projects by payback 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K7 · NPV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NPV Makes Timing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Discount future net cash flows to present 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NPV = Σ [Net cash flowₜ ÷ (1+r)ᵗ] − Initial investment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Positive NPV creates financial value at the chosen discount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energy price, utilisation and maintenance assumptions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sensitivity analysis instead of false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K7 · ABATEMENT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Projects per Tonne Avoided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Marginal abatement cost exposes the price of each carbon outcome.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MAC = Lifetime net cost ÷ Lifetime tCO₂e avoided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Negative cost means the measure saves money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consistent lifetime and discounting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ignore feasibility and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K7 · MACC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Abatement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Negative-cost measures can help fund strategic measures with positive abatement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K7 ·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Stress-Test the Variables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Energy price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Low, expected and high tariff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Utilisation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Operating hours, throughput and occupancy.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Degradation, rebound and implementation shortfall.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Carbon 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Tax, internal carbon price or customer premium.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Discount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Financing and risk assumptions.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K7 · INTERNAL CARBON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 Ways to Price Carbon Internally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Shadow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Internal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a hypothetical carbon value in investment cases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Changes decisions without charging business units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Good for stress-testing long-lived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Charge emissions and recycle funds into reductions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Creates a visible operating signal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Needs governance and acceptance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LED Retrofit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teaching data: S$120,000 capex; S$38,000 annual saving; 72 tCO₂e avoided per year; 8-year life.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Payback = 120,000 ÷ 38,000 = 3.16 years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Simple lifetime MAC = (120,000 − 8×38,000) ÷ (8×72) = −S$319/tCO₂e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project saves money and carbon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maintenance, hours and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discounted cash flow for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Standards to a Defensible Hotspot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Purpose, organisational boundary, operational boundary and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Activity data × factor × GWP with controlled units.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Diagnose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Rank magnitude, trend, risk and controllability.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tonnes, cash, risk and strategic fit.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DECISION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Should Survive the Handover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Calculation workbook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checks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Hotspot narrative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Investment assumptions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TOPIC 1 ·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Precision without completeness can produce a confidently wrong hotspot.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Screen broadly, then improve the data where decisions are material.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 Multi-Site Corporate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organisational and operational boundaries, classify sources and identify data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Define organisational and operational boundaries, classify sources and identify data gaps.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Boundary memo, scope map and data-gap 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Singapore retail and distribution group Source lens: GHG Protocol Corporate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the SG Carbon Calculator as an Engagement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personal-footprint screening responsibly, then translate behavioural insights into corporate data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personal-footprint screening responsibly, then translate behavioural insights into corporate data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Calculator evidence, limitations note and engagement experiment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Employee carbon-literacy campaign Source lens: SG Carbon Calculator and UN ActNow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AUTHENTIC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SG Carbon Calculator: Use It for Screening, Not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g-carbon-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84" y="1783080"/>
            <a:ext cx="4537152" cy="4251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97880" y="1783080"/>
            <a:ext cx="544068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RIGHT TOOL · RIGHT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Explore how energy, transport, food and waste choices affect a personal screening result.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fictional personas; avoid collecting unnecessary personal information.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Translate insights into engagement hypotheses and operational data needs.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 not aggregate personal results into a corporate GHG inventory.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6235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alfredang.github.io/sgcarboncalculator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Find Hotspots in a Farm-to-Table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Calculate a screening footprint, rank hotspots and propose a data-improvement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Calculate a screening footprint, rank hotspots and propose a data-improvement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Calculated footprint, Pareto chart and hotspot 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CP Foods-inspired teaching case Source lens: SAP customer spotlight and GHG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60 minutes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 · K4 · K5 · K8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Prioritise Reduction Initiatives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Projection, technology, economics and transparent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Baseline Is a Managed Reference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 year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Representative, reliable and relevant to the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Structural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Acquisition, divestment or outsourcing may require recalculation.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Material factor or methodology changes may require restatement.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Growth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absolute emissions from intensity and activity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 With the Business-as-Usual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Make growth, efficiency and factor assumptions explicit.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Future emissions = Future activity × Future emission factor × (1 − efficiency improvement)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the no-action case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Avoid claiming reductions caused by grid decarbonisation as operational…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compatible units and periods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Absolute and Intensity Targets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Absolute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Intensity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Total tCO₂e falls against baseline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Directly aligned to atmospheric outcome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Can challenge a fast-growing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tCO₂e per unit of output or revenue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Separates growth from efficiency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Can improve while total emissions 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Scenarios as Decision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drivers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coherent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 business-as-usual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Layer reduction measures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Compare emissions, cost and risk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Ranges Where the Future Is Uncertain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 case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Slower growth, lower adoption or conservative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Expected case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Best current estimate with documented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 case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Faster growth, price shock or implementation upside.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observation that causes a plan revision.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2030 Emissions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target path becomes actionable only when initiatives, owners and milestones explain each step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Explain Why Emissions 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Separate operational performance from structural and market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Δ Emissions = Activity effect + Efficiency effect + Factor effect + Structural 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Activity effect captures volume or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Efficiency effect captures operational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Factor effect captures energy or supplier decarbonisation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REBOUND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Avoid the Rebound Trap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Efficiency gain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Less energy per service unit.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Behaviour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Lower cost can increase demand or operating hours.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 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Gross saving minus additional consumption.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both intensity and absolute activity.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Electrifying a Singapore Delivery Fleet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Illustrative: 20 vans × 35,000 km/year; diesel van 0.25 kg CO₂e/km; EV 0.20 kWh/km; grid factor 0.402 kg CO₂/kWh.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Diesel = 175 tCO₂e/year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EV electricity = 56.3 tCO₂e/year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Screening reduction = 118.7 tCO₂e/year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vehicle and battery lifecycle where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future grid factors separately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actual route, charging and payload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REDUCTION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Reduce Before You Compensate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Avoid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unnecessary demand, travel, material or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Improve efficiency and yield.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Substitute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lower-carbon energy, material or transport.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with suppliers, customers and employees.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Neutralise residuals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credible removals only after deep reductions.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Energy Levers: Measure, Control, Replace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Sub-meter material loads and normalise for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Schedules, set-points, maintenance and automation.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Upgrade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Efficient motors, chillers, compressed air and heat recovery.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Renewable electricity and electrified heat where feasible.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Operational Excellence Is Carbon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Yield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 scrap and rework.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waiting, idle loads and unnecessary movement.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assets at designed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 batches, routes and capacity to demand.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carbon before it is locked into the process.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Supplier Engagement Needs a Data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Screen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secondary factors to find material categories.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material suppliers for product or process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boundary, method, period and assurance.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Co-design lower-carbon specifications and logistics.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Embed evidence and performance expectations.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CIRCULARITY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Circular Design Changes the Carbon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Refuse unnecessary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Reduce material intensity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Reuse components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Repair and remanufacture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Recycle at highest practical value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4.0 Can Help—and Create New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Implementation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IoT enables real-time energy and process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Analytics detects anomalies and predicts failures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ERP connects carbon to materials, orders and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High integration cost and interoperability gaps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 security and ownership concerns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Automation can scale poor-quality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an Enterprise Footprint Platform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Transactions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Materials, purchase orders, production and logistics.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Factors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Versioned libraries matched to geography and period.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Flows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Energy and material movement across products and sites.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Corporate and product footprints with drill-down.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Hotspots integrated into operational decisions.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K5 ·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 the Technology Ready for This Site?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measure meet technical, operational, financial and evidence thresholds?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Pilot with success criteria, monitoring plan and scale-up gate.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Redesign, sequence a dependency, or retain in the opportunity backlog.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promising technology is not yet a feasible initiative until site constraints and implementation risk are tested.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K5 ·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Pilot That Can Be Judged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Comparable pre-intervention period and operating conditions.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Intervention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asset, control or behaviour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Metric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Energy, output, emissions, cost and quality guardrail.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Long enough to capture representative variation.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Scale, modify or stop threshold agreed in advance.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· 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Portfolio Needs More Than One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and cumulative tCO₂e.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Economics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NPV, payback and abatement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Feasibility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Technology maturity, resources and disruption.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Customer, compliance and resilience value.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quality and dependency risk.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· MCDA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Transparent Multi-Criteria 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Agree criteria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weights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scoring anchors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with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sensitivity and approve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K8 · WEIGHTED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Make Trade-Offs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a common scale and documented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Weighted score = Σ (criterion score × criterion weight)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Weights must total 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behavioural anchors for 1–5 scores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let the formula replace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·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No-Regret Measures and Strategic Bets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No-regret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Strategic bet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Strong economics and proven technology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Low dependency and quick implementation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momentum and fund later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Higher uncertainty or capital need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Enables deep reductions or future compliance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staged gates and learning milestones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K8 ·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Should Start First?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measure high-impact, feasible now and independent of another project?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Place in the immediate delivery wave with a named owner and budget gate.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Place in enable, pilot, partner or monitor wave with a trigger date.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Sequence dependencies: data platform before optimisation, charging before fleet conversion, specification before supplier tender.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· PORTFOLIO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Initiative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score supports discussion; the approval record must still explain constraints, dependencies and dissent.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K8 ·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Counter Common Decision Biases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Payback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Include lifecycle value and residual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Pet-project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 comparable evidence and scoring anchors.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Precision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ranges and confidence ratings.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Silo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Include operations, finance, procurement and users.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the reduction hierarchy first.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K8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Portfolio Choice Under a S$500k 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measures: controls S$80k/160 t; solar S$280k/210 t; EV pilot S$140k/90 t; green material S$220k/300 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Possible Wave 1: controls + solar + EV pilot = S$500k and 460 tCO₂e/year screened benefit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Green material has high impact but needs procurement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double counting and dependencies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Retain a reserve for measurement and commissioning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Prioritisation Is a Portfolio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Project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Model baseline, intervention and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technical and operating feasibility.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carbon, cash, risk, strategy and confidence.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Sequence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Balance no-regret delivery with deep-reduction enablers.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DECISION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Long List to Funded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Opportunity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cases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MCDA scoring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Dependency map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Approved waves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TOPIC 2 ·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best portfolio is credible enough to fund and flexible enough to learn.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scenarios, pilots and stage gates to turn uncertainty into managed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Singapore Fleet Transition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business-as-usual and reduction scenarios for diesel, route optimisation and fleet electrification.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Build business-as-usual and reduction scenarios for diesel, route optimisation and fleet electrification.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2030 scenario model, assumptions register and 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LionCity Logistics Source lens: EMA grid statistics and GHG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Screen a Smart-Factory Carbon Initiative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technical, operational, data and financial feasibility of IoT/ERP-enabled energy optimisation.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Assess the technical, operational, data and financial feasibility of IoT/ERP-enabled energy optimisation.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Feasibility scorecard and pilot charter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Matsumoto Precision-inspired teaching case Source lens: SAP customer spotlight and Yurtay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Prioritise a Reduction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MACC, weighted criteria, dependencies and budget constraints into a transparent portfolio.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Combine MACC, weighted criteria, dependencies and budget constraints into a transparent portfolio.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MACC, MCDA matrix, funded roadmap and decision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WITTE Automotive-inspired teaching case Source lens: SAP customer spotlight, CarbonChain and IMD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SHORT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 · K2 · K6 · K9 ·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 the Reduction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EMS governance, action planning, Singapore requirements and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EMS Turns Intent Into Repeatable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Interested parties, risks, opportunities and obligations.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Policy, accountability and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Aspects, objectives, targets and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 &amp; operation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Competence, communication and operational controls.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Evaluation &amp; improvement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Monitor, audit, review and correct.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PDCA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Carbon Management Through PDCA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Plan boundary, baseline, risks and targets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 controls, projects and engagement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Check data, KPIs, audits and variance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 on findings and reset priorities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Ownership and Accountability Are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Process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Carbon / GHG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Controls the activity and operational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Implements agreed actions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Explains performance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Maintains method, inventory and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Coordinates reporting and assurance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Escalates quality and compliance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Controls Around the Data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Authorised sources and complete populations.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Locked factors, units and calculation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 checks and independent approval.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control and recalculation log.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 repository and retention period.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COMPETENCE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Plan Needs People Who Can Operate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ambition, capital and risk appetite.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Validate business cases and reporting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 sources, projects and root causes.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Procurement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Engage suppliers and embed specifications.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/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architecture, access and quality.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MANAGEMENT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Useful Review Drives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target trajectory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 material variance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 project delivery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Consider risk and obligations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Decide resources and corrective action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the System, Not Only the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it complete and consistently applied?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samples be traced to source?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Calculation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factors, units and formulas controlled?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corrective actions owned and closed?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claims supported and balanced?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K2 · CORRECTIVE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 the Variance a Data Error or Performance Gap?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corrected evidence bring the KPI back within tolerance?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 the data/control issue, assess restatement and prevent recurrence.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Investigate operational root cause and implement a performance corrective action.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hide a missed target by changing the data; do not launch a project to fix a calculation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K2 ·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footprint becomes manageable when it has owners, controls and review rhythms.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inventory is an operating process—not an annual spreadsheet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PLAN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Credible Reduction Plan Has Eight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Boundary and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covered and measured.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Hotspots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emissions concentrate and why.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Target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Outcome, year, scope and trajectory.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Initiatives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Measures, savings and dependencies.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Roadmap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Sequence, milestones and resources.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Governance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Owners and decision rights.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 · Measurement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KPIs, evidence and review.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 · Risk &amp; 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Uncertainty, claims and escalation.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TARGET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Target Needs Scope and Substance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Weak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Decision-ready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Reduce emissions significantly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base year or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trajectory or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35% absolute Scope 1+2 reduction by 2030 from 2025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Boundary and recalculation policy stated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Annual trajectory and accountable executive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Sequence the Reduction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Stabilise data and controls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 no-regret efficiency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 strategic technology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Transform supply and product choices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Address residual emissions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KPI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 Outcome, Driver and Delivery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Total tCO₂e and tCO₂e per functional unit.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Driver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kWh/unit, fuel/km, kg material/unit, waste yield.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Project milestone, installed capacity, supplier coverage.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Primary-data share, estimate share and control exceptions.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Make Failure Modes Visible Before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Delay, skills, vendor or permit.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Savings lower than modelled.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Commercial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Tariff, price, demand or finance.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evidence or incompatible systems.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Overstatement, double counting or unclear offsets.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Reduction and Offset Are Not Interchangeable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Operational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Offset /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Changes emissions within the inventory or value chain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Traceable to a measure and baseline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Supports the reduction trajectory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Finances a reduction or removal outside the inventory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Requires quality and retirement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Disclose separately from gross emissions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Responsible Claim Shows the Full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entities, scopes and period?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Metric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Gross, net, absolute or intensity?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standard, factors and recalculations?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Progress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result versus trajectory.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Estimates, uncertainty and exclusions.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K6 · TARGET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a 35% Target Into Annual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2025 baseline: 10,000 tCO₂e. 2030 target: 6,500 tCO₂e.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Required reduction = 3,500 tCO₂e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Linear planning guide = 700 tCO₂e/year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Actual roadmap need not be linear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each step change to initiatives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Track business-as-usual growth separately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K6 · RESOURCING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the Enablers, Not Only the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Meters, factors, assurance and data engineering.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Project management, training and supplier engagement.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Communications, workflow redesign and incentives.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Contingency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Performance shortfall and dependency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Commissioning and sustained optimisation.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 ·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Every Action Needs a Complete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intervention and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Hotspot and expected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Accountable owner and support roles.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Start, milestone, completion and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How much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Budget, resources and quantified benefit.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KPI, source and verification method.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K9 · SMARTER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Make Objectives SMARTER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target should guide action and adaptation.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Specific · Measurable · Achievable · Relevant · Time-bound · Evaluated · Reviewed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an outcome metric and at least one driver 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the evidence source and review cadence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Predefine escalation and revision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 · RACI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Clarify Roles Before Delivery Starts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Accountable owner approves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Responsible team delivers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Consulted experts shape decisions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Informed stakeholders receive updates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 ·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 Single Initiative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Initiative ID, source, site and owner.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Capex, savings, tCO₂e and confidence.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Stage, milestone, dependency and issue.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Approval, gate and rationale.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Baseline, M&amp;V method and realised result.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K9 · STAGE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Should the Initiative Scale?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Did the pilot meet carbon, cost, operational and data-quality criteria?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 rollout with updated benefit case and implementation controls.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Modify or stop; document learning and update the opportunity register.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 gates protect capital while preserving learning from uncertainty.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 · M&amp;V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 Realised Savings Fairly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Representative pre-project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Adjustment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Production, weather, occupancy or route mix.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leakage and double counting.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Persistence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that savings continue after launch.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review of material results.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 · SINGAPORE CARBON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 the Current Singapore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Reportable facility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direct emissions at or above 2,000 tCO₂e.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Taxable facility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direct emissions at or above 25,000 tCO₂e.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2026–2027 tax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S$45 per tCO₂e.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Toward 2030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Government has indicated S$50–S$80 per tCO₂e by 2030.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Industrial facilities in specified sectors; verify current CPA requirements.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K9 · NEA 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Reportable and Taxable Facilities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≥2,000 tCO₂e 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≥25,000 tCO₂e 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Register as reportable where applicable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Submit annual Emissions Report by 30 June following year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Appoint required representatives and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Also subject to carbon tax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Monitoring Plan and verified Emissions Report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Stronger controls and verification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K9 · CARBON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Screen the 2026 Carbon-Tax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taxable emissions: 30,000 tCO₂e. 2026 rate: S$45/tCO₂e.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Gross screened liability = 30,000 × S$45 = S$1,350,000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verified reportable emissions and current law for filing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Account for eligible allowances only with competent advice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result to stress-test investments—not as the inventory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Plan Is a Managed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Owners, controls, competence and management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Boundary, target, initiatives, roadmap and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 contracts, stage gates and dependencies.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Measurement, audit, corrective action and transparent claims.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DECISION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Target to Continual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Fund roadmap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 actions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outcomes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and adapt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TOPIC 3 ·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reduction plan is credible when someone can execute it, finance it and verify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Targets become performance only through governance and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a Singapore MR and Carbon-Tax Readiness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Screen regulatory status, data controls, reporting obligations and carbon-price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Screen regulatory status, data controls, reporting obligations and carbon-price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Obligations matrix, control plan and screened tax exposure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Jurong specialty-chemicals facility Source lens: NEA Carbon Tax and MR requirements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an Employee ActNow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 selected personal actions into a privacy-respecting corporate engagement programme with measurable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Convert selected personal actions into a privacy-respecting corporate engagement programme with measurable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Programme canvas, measurement plan and communication copy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Singapore professional-services firm Source lens: United Nations ActNow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Board-Ready Carbon Reduction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Integrate hotspot analysis, prioritisation, governance and action planning into a defensible 2030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Integrate hotspot analysis, prioritisation, governance and action planning into a defensible 2030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Ten-slide board pack plus action register and management-review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Lion City Precision Pte Ltd Source lens: Integrated course case using GHG Protocol, ISO/EMS and Singapore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EVIDENCE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Standards, Regulation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Verify current requirements before external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REFERENCES · 1–4 · FULL LINKS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GHG Protocol Corporate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ghgprotocol.org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United Nations ActNow — Ten Actions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un.org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NEA — Singapore Carbon Tax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nea.gov.sg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NEA — Measurement and Reporting Requirements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nea.gov.sg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REFERENCES · 5–8 · FULL LINKS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EMA — Singapore Energy Statistics, Chapter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ema.gov.sg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SAP Sustainability Footprint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sap.com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IMD — Carbon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imd.org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Yurtay (2025), Industry 4.0 and ERP 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mdpi.com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REFERENCES · 9–12 · FULL LINKS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Synesgy — Carbon Footprint 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synesgy.com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Green Earth — Carbon Footprints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green.earth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CarbonChain — Reducing Company Footprints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carbonchain.com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SG Carbon Calculator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github.com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Footprint to Managed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Integrate measurement, decisions and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emission hotspots with defensible boundaries and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Prioritise a portfolio using scenarios, feasibility, economics and transparent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Develop an executable reduction plan with targets, governance and measurement.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Professional judgement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assumptions, uncertainty and limitations without hiding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TAKE IT BACK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Practical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Purpose and boundary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Data and factors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Hotspots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Portfolio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Follow 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PDCA and evidence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Sustainability Reporting and Assurance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Environmental, Social and Governance (ESG) Essentials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Data Analytics for Sustainability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Business Process Automation with Power Automate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Business Innovation with Artificial Intelligence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FINAL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9 SAQs · 1 hour · open 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Case Study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applied questions · 1 hour · open 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assessment attendance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Follow the assessor’s stated LMS or hard-copy 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Complete survey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K1–K9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A1–A3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Confirm receipt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Complete every event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AM, PM and Assessment 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 success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assume a failed scan is recorded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Minimum 75%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Attendance eligibility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Ask for help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issues with the trainer immediately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CARBON MANAGEMENT FOR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Measure what matters. Reduce what matters most. Prove what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Carbon-Footprint-Management-for-Sustainability  ·  TGS-2023021099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